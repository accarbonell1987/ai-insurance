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6"/>
    <p:restoredTop sz="94706"/>
  </p:normalViewPr>
  <p:slideViewPr>
    <p:cSldViewPr snapToGrid="0" snapToObjects="1">
      <p:cViewPr varScale="1">
        <p:scale>
          <a:sx n="189" d="100"/>
          <a:sy n="189" d="100"/>
        </p:scale>
        <p:origin x="176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/>
          <p:cNvSpPr/>
          <p:nvPr/>
        </p:nvSpPr>
        <p:spPr>
          <a:xfrm>
            <a:off x="7772400" y="5029200"/>
            <a:ext cx="1828800" cy="1828800"/>
          </a:xfrm>
          <a:prstGeom prst="triangl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365760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Seguros Inteligentes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A7F3D0"/>
                </a:solidFill>
              </a:defRPr>
            </a:pPr>
            <a:r>
              <a:t>para HomeBanking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</a:defRPr>
            </a:pPr>
            <a:r>
              <a:t>El primer motor de cotización conversacional con IA</a:t>
            </a:r>
            <a:br/>
            <a:r>
              <a:t>para el mercado paraguayo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376672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394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MVP LISTO PARA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7315200" y="1188720"/>
            <a:ext cx="1828800" cy="1371600"/>
          </a:xfrm>
          <a:prstGeom prst="rtTriangl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La Oportunidad en Paraguay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084832"/>
            <a:ext cx="8229600" cy="164592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82296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4201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</a:defRPr>
            </a:pPr>
            <a:r>
              <a:rPr dirty="0"/>
              <a:t>El </a:t>
            </a:r>
            <a:r>
              <a:rPr dirty="0" err="1"/>
              <a:t>Momento</a:t>
            </a:r>
            <a:r>
              <a:rPr dirty="0"/>
              <a:t> es </a:t>
            </a:r>
            <a:r>
              <a:rPr dirty="0" err="1"/>
              <a:t>Ahora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31520" y="250830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rPr dirty="0"/>
              <a:t>• Paraguay no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pólizas</a:t>
            </a:r>
            <a:r>
              <a:rPr dirty="0"/>
              <a:t> online </a:t>
            </a:r>
            <a:r>
              <a:rPr dirty="0" err="1"/>
              <a:t>actualmente</a:t>
            </a:r>
            <a:br>
              <a:rPr dirty="0"/>
            </a:br>
            <a:r>
              <a:rPr dirty="0"/>
              <a:t>• Su banco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gestionando</a:t>
            </a:r>
            <a:r>
              <a:rPr dirty="0"/>
              <a:t> ser EL PRIMERO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obtener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permiso</a:t>
            </a:r>
            <a:br>
              <a:rPr dirty="0"/>
            </a:br>
            <a:r>
              <a:rPr dirty="0"/>
              <a:t>• Ya </a:t>
            </a:r>
            <a:r>
              <a:rPr dirty="0" err="1"/>
              <a:t>tienen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interno</a:t>
            </a:r>
            <a:r>
              <a:rPr dirty="0"/>
              <a:t> para </a:t>
            </a:r>
            <a:r>
              <a:rPr dirty="0" err="1"/>
              <a:t>agentes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sucursales</a:t>
            </a:r>
            <a:br>
              <a:rPr dirty="0"/>
            </a:br>
            <a:r>
              <a:rPr dirty="0"/>
              <a:t>• Falta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puente</a:t>
            </a:r>
            <a:r>
              <a:rPr dirty="0"/>
              <a:t>: </a:t>
            </a:r>
            <a:r>
              <a:rPr dirty="0" err="1"/>
              <a:t>cotización</a:t>
            </a:r>
            <a:r>
              <a:rPr dirty="0"/>
              <a:t> digital </a:t>
            </a:r>
            <a:r>
              <a:rPr dirty="0" err="1"/>
              <a:t>inteligente</a:t>
            </a:r>
            <a:r>
              <a:rPr dirty="0"/>
              <a:t> para </a:t>
            </a:r>
            <a:r>
              <a:rPr dirty="0" err="1"/>
              <a:t>clientes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530352" y="4005072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80160" y="4114800"/>
            <a:ext cx="1097280" cy="10972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01180" y="437493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88%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035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</a:defRPr>
            </a:pPr>
            <a:r>
              <a:t>de aseguradoras</a:t>
            </a:r>
            <a:br/>
            <a:r>
              <a:t>globales usan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8369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</a:defRPr>
            </a:pPr>
            <a:r>
              <a:t>Fuente: McKinsey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0712" y="4005072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337560" y="3931920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160520" y="4114800"/>
            <a:ext cx="1097280" cy="10972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92050" y="439595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58%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53035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</a:defRPr>
            </a:pPr>
            <a:r>
              <a:t>de clientes quieren</a:t>
            </a:r>
            <a:br/>
            <a:r>
              <a:t>asesoría personalizada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590471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</a:defRPr>
            </a:pPr>
            <a:r>
              <a:t>Fuente: Accenture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4005072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040880" y="411480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51390" y="43644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271990"/>
            <a:ext cx="23774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</a:defRPr>
            </a:pPr>
            <a:r>
              <a:rPr lang="en-US" dirty="0"/>
              <a:t>B</a:t>
            </a:r>
            <a:r>
              <a:rPr dirty="0"/>
              <a:t>ancos </a:t>
            </a:r>
            <a:r>
              <a:rPr dirty="0" err="1"/>
              <a:t>en</a:t>
            </a:r>
            <a:r>
              <a:rPr dirty="0"/>
              <a:t> Paraguay</a:t>
            </a:r>
            <a:br>
              <a:rPr dirty="0"/>
            </a:br>
            <a:r>
              <a:rPr dirty="0"/>
              <a:t>con </a:t>
            </a:r>
            <a:r>
              <a:rPr dirty="0" err="1"/>
              <a:t>seguros</a:t>
            </a:r>
            <a:r>
              <a:rPr dirty="0"/>
              <a:t> </a:t>
            </a:r>
            <a:r>
              <a:rPr dirty="0" err="1"/>
              <a:t>digitales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6400800" y="5894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</a:defRPr>
            </a:pPr>
            <a:r>
              <a:rPr dirty="0"/>
              <a:t>Fuente: </a:t>
            </a:r>
            <a:r>
              <a:rPr dirty="0" err="1"/>
              <a:t>Oportunidad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" y="1444752"/>
            <a:ext cx="8046720" cy="50292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804672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0" y="1554480"/>
            <a:ext cx="246888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0" y="16276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LISTO PARA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Motor de Cotización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</a:defRPr>
            </a:pPr>
            <a:r>
              <a:t>Conversacional con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9142"/>
            <a:ext cx="41148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dirty="0"/>
              <a:t>Tu </a:t>
            </a:r>
            <a:r>
              <a:rPr dirty="0" err="1"/>
              <a:t>cliente</a:t>
            </a:r>
            <a:r>
              <a:rPr dirty="0"/>
              <a:t> </a:t>
            </a:r>
            <a:r>
              <a:rPr dirty="0" err="1"/>
              <a:t>abre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app, escribe "</a:t>
            </a:r>
            <a:r>
              <a:rPr dirty="0" err="1"/>
              <a:t>quiero</a:t>
            </a:r>
            <a:r>
              <a:rPr dirty="0"/>
              <a:t> </a:t>
            </a:r>
            <a:r>
              <a:rPr dirty="0" err="1"/>
              <a:t>asegurar</a:t>
            </a:r>
            <a:r>
              <a:rPr dirty="0"/>
              <a:t> mi auto"</a:t>
            </a:r>
            <a:r>
              <a:rPr lang="en-US" dirty="0"/>
              <a:t>, </a:t>
            </a:r>
            <a:r>
              <a:rPr dirty="0" err="1"/>
              <a:t>en</a:t>
            </a:r>
            <a:r>
              <a:rPr dirty="0"/>
              <a:t> 3 </a:t>
            </a:r>
            <a:r>
              <a:rPr dirty="0" err="1"/>
              <a:t>minutos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cotización</a:t>
            </a:r>
            <a:r>
              <a:rPr dirty="0"/>
              <a:t> </a:t>
            </a:r>
            <a:r>
              <a:rPr dirty="0" err="1"/>
              <a:t>personalizada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Sin </a:t>
            </a:r>
            <a:r>
              <a:rPr dirty="0" err="1"/>
              <a:t>formularios</a:t>
            </a:r>
            <a:r>
              <a:rPr dirty="0"/>
              <a:t>. </a:t>
            </a:r>
            <a:endParaRPr lang="en-US" dirty="0"/>
          </a:p>
          <a:p>
            <a:pPr algn="l">
              <a:defRPr sz="1500" b="0">
                <a:solidFill>
                  <a:srgbClr val="475569"/>
                </a:solidFill>
              </a:defRPr>
            </a:pPr>
            <a:r>
              <a:rPr dirty="0"/>
              <a:t>Sin </a:t>
            </a:r>
            <a:r>
              <a:rPr dirty="0" err="1"/>
              <a:t>esperas</a:t>
            </a:r>
            <a:r>
              <a:rPr dirty="0"/>
              <a:t>. </a:t>
            </a:r>
            <a:endParaRPr lang="en-US" dirty="0"/>
          </a:p>
          <a:p>
            <a:pPr algn="l">
              <a:defRPr sz="1500" b="0">
                <a:solidFill>
                  <a:srgbClr val="475569"/>
                </a:solidFill>
              </a:defRPr>
            </a:pPr>
            <a:r>
              <a:rPr dirty="0"/>
              <a:t>Sin </a:t>
            </a:r>
            <a:r>
              <a:rPr dirty="0" err="1"/>
              <a:t>fricciones</a:t>
            </a:r>
            <a:r>
              <a:rPr dirty="0"/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38912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8428" y="4407944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297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Conversación Natural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63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Chat inteligente que guía al cliente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297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rPr dirty="0"/>
              <a:t>Multi-</a:t>
            </a:r>
            <a:r>
              <a:rPr dirty="0" err="1"/>
              <a:t>Producto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5029200" y="4663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Auto, vida, hogar, salud - un solo motor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03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Multi-LLM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669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OpenAI, Anthropic, o modelos locales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303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API Lista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669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Integración simple con su sistema actual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0" y="2743200"/>
            <a:ext cx="3017520" cy="12801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</a:defRPr>
            </a:pPr>
            <a:r>
              <a:rPr dirty="0"/>
              <a:t>Tiempo a </a:t>
            </a:r>
            <a:r>
              <a:rPr dirty="0" err="1"/>
              <a:t>Producción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5486400" y="3200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2-4 semanas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MVP ~80% completado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861F0B9-A1ED-E3AA-DF50-3896C2F4ABF2}"/>
              </a:ext>
            </a:extLst>
          </p:cNvPr>
          <p:cNvSpPr/>
          <p:nvPr/>
        </p:nvSpPr>
        <p:spPr>
          <a:xfrm>
            <a:off x="4705132" y="4357923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878A6B-FA2B-F7D5-2F39-59A81DC74C57}"/>
              </a:ext>
            </a:extLst>
          </p:cNvPr>
          <p:cNvSpPr txBox="1"/>
          <p:nvPr/>
        </p:nvSpPr>
        <p:spPr>
          <a:xfrm>
            <a:off x="4709160" y="4376747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✓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0C17507-8447-B541-CB2E-CD13EE6D7896}"/>
              </a:ext>
            </a:extLst>
          </p:cNvPr>
          <p:cNvSpPr/>
          <p:nvPr/>
        </p:nvSpPr>
        <p:spPr>
          <a:xfrm>
            <a:off x="914400" y="5284696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FA5678-D4FE-B80E-1315-FCBD1C668EF9}"/>
              </a:ext>
            </a:extLst>
          </p:cNvPr>
          <p:cNvSpPr txBox="1"/>
          <p:nvPr/>
        </p:nvSpPr>
        <p:spPr>
          <a:xfrm>
            <a:off x="918428" y="53035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✓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BD495CB-EE65-E67B-F0AD-AB829D9653D8}"/>
              </a:ext>
            </a:extLst>
          </p:cNvPr>
          <p:cNvSpPr/>
          <p:nvPr/>
        </p:nvSpPr>
        <p:spPr>
          <a:xfrm>
            <a:off x="4701104" y="5284696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6D7CD7-C67E-2935-C720-CD548F2AC94B}"/>
              </a:ext>
            </a:extLst>
          </p:cNvPr>
          <p:cNvSpPr txBox="1"/>
          <p:nvPr/>
        </p:nvSpPr>
        <p:spPr>
          <a:xfrm>
            <a:off x="4705132" y="53035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¿Cómo Funciona?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810512"/>
            <a:ext cx="1645920" cy="201168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4320" y="1737360"/>
            <a:ext cx="16459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060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</a:defRPr>
            </a:pPr>
            <a:r>
              <a:t>Cliente abre</a:t>
            </a:r>
            <a:br/>
            <a:r>
              <a:t>el app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65960" y="2606040"/>
            <a:ext cx="365760" cy="27432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130552" y="1810512"/>
            <a:ext cx="1645920" cy="201168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057400" y="1737360"/>
            <a:ext cx="16459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606040" y="192024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0604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6060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</a:defRPr>
            </a:pPr>
            <a:r>
              <a:t>Escribe:</a:t>
            </a:r>
            <a:br/>
            <a:r>
              <a:t>"Quiero seguro"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49040" y="2606040"/>
            <a:ext cx="365760" cy="27432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913632" y="1810512"/>
            <a:ext cx="1645920" cy="201168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840480" y="1737360"/>
            <a:ext cx="16459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389120" y="19202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6060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</a:defRPr>
            </a:pPr>
            <a:r>
              <a:t>AI hace</a:t>
            </a:r>
            <a:br/>
            <a:r>
              <a:t>preguntas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532120" y="2606040"/>
            <a:ext cx="365760" cy="27432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696712" y="1810512"/>
            <a:ext cx="1645920" cy="201168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623560" y="1737360"/>
            <a:ext cx="16459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172200" y="19202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7220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26060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</a:defRPr>
            </a:pPr>
            <a:r>
              <a:t>Genera</a:t>
            </a:r>
            <a:br/>
            <a:r>
              <a:t>cotización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315200" y="2606040"/>
            <a:ext cx="365760" cy="27432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479792" y="1810512"/>
            <a:ext cx="1645920" cy="201168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406640" y="1737360"/>
            <a:ext cx="16459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955280" y="19202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5528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0" y="26060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</a:defRPr>
            </a:pPr>
            <a:r>
              <a:t>Cliente</a:t>
            </a:r>
            <a:br/>
            <a:r>
              <a:t>elige plan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096512"/>
            <a:ext cx="8229600" cy="256032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57200" y="4023360"/>
            <a:ext cx="822960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Ejemplo de Conversación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0" y="4572000"/>
            <a:ext cx="393192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39" y="464515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Quiero asegurar mi Honda CR-V 2024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120640"/>
            <a:ext cx="457200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51937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¡Excelente elección! ¿Lo usarás para ir al trabajo?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0" y="5669280"/>
            <a:ext cx="256032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20640" y="57424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Sí, manejo 30km al día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263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→ 3 minutos hasta cotización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Su Sistema Actual + Nuestra Solución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627632"/>
            <a:ext cx="4114800" cy="484632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4114800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4114800" cy="64008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HOY: Sistema en Sucursales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</a:defRPr>
            </a:pPr>
            <a:r>
              <a:t>✓ Agentes capacitados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</a:defRPr>
            </a:pPr>
            <a:r>
              <a:t>✓ Pueden crear pólizas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</a:defRPr>
            </a:pPr>
            <a:r>
              <a:t>✓ Sistema interno funcionando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✗ Solo presencial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✗ Sin canal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✗ Sin autoservicio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✗ Horario limitado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36592" y="1627632"/>
            <a:ext cx="4114800" cy="484632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663440" y="1554480"/>
            <a:ext cx="4114800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63440" y="1554480"/>
            <a:ext cx="411480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0" y="1691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MAÑANA: + Motor de Cotización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✓ Todo lo anterior PLUS: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880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</a:defRPr>
            </a:pPr>
            <a:r>
              <a:t>✓ Cotización en el app 24/7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</a:defRPr>
            </a:pPr>
            <a:r>
              <a:t>✓ Conversación natural con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886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</a:defRPr>
            </a:pPr>
            <a:r>
              <a:t>✓ Pre-calificación instantánea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</a:defRPr>
            </a:pPr>
            <a:r>
              <a:t>✓ Cliente llega a sucursal listo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892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</a:defRPr>
            </a:pPr>
            <a:r>
              <a:t>✓ Agente cierra más rápido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</a:defRPr>
            </a:pPr>
            <a:r>
              <a:t>✓ Datos ya capturados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297680" y="3657600"/>
            <a:ext cx="548640" cy="4572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Roadmap de Desarrollo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Tiempos estimados con 1 desarrollador dedicado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536192"/>
            <a:ext cx="4114800" cy="13716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4114800" cy="137160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66160" y="1600200"/>
            <a:ext cx="82296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80" y="1645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AHORA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Motor de Cotización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118872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762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2-4 sem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MVP 80% listo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19472" y="1536192"/>
            <a:ext cx="4114800" cy="13716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46320" y="1463040"/>
            <a:ext cx="41148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</a:defRPr>
            </a:pPr>
            <a:r>
              <a:t>Document Intelligence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2103120"/>
            <a:ext cx="118872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74920" y="21762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75569"/>
                </a:solidFill>
              </a:defRPr>
            </a:pPr>
            <a:r>
              <a:t>6-8 sem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Extracción de docs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182112"/>
            <a:ext cx="4114800" cy="13716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7200" y="3108960"/>
            <a:ext cx="41148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</a:defRPr>
            </a:pPr>
            <a:r>
              <a:t>Analizador de Productos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49040"/>
            <a:ext cx="118872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38221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75569"/>
                </a:solidFill>
              </a:defRPr>
            </a:pPr>
            <a:r>
              <a:t>4-6 sem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840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Comparador inteligente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19472" y="3182112"/>
            <a:ext cx="4114800" cy="13716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846320" y="3108960"/>
            <a:ext cx="41148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</a:defRPr>
            </a:pPr>
            <a:r>
              <a:t>Copiloto para Agentes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3749040"/>
            <a:ext cx="118872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74920" y="38221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75569"/>
                </a:solidFill>
              </a:defRPr>
            </a:pPr>
            <a:r>
              <a:t>8-10 sem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840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Asistente en sucursal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4828032"/>
            <a:ext cx="4114800" cy="13716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57200" y="4754880"/>
            <a:ext cx="41148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</a:defRPr>
            </a:pPr>
            <a:r>
              <a:t>Agente de Claims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394960"/>
            <a:ext cx="118872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54681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75569"/>
                </a:solidFill>
              </a:defRPr>
            </a:pPr>
            <a:r>
              <a:t>10-12 sem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486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Procesamiento siniestros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19472" y="4828032"/>
            <a:ext cx="4114800" cy="13716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846320" y="4754880"/>
            <a:ext cx="41148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</a:defRPr>
            </a:pPr>
            <a:r>
              <a:t>Dashboard Gobernanza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0" y="5394960"/>
            <a:ext cx="118872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4920" y="54681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75569"/>
                </a:solidFill>
              </a:defRPr>
            </a:pPr>
            <a:r>
              <a:t>6-8 sem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486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Auditoría y métricas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Modelo de Negocio: 3 Opciones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627632"/>
            <a:ext cx="2743200" cy="438912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274320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74320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Opción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Bajo Riesgo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t>• 100% desarrollo pagado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t>• 0.5-1% comisión por póliza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• Soporte: cobro por hora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• Ideal: control total de costos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1627632"/>
            <a:ext cx="2743200" cy="438912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91840" y="1554480"/>
            <a:ext cx="274320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91840" y="1554480"/>
            <a:ext cx="274320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8328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Opción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Balanced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651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t>• 50% desarrollo pagado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246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t>• 1.5-2% comisión por póliza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• Soporte básico incluido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434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• Ideal: riesgo compartido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49040" y="5394960"/>
            <a:ext cx="182880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0" y="54681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RECOMENDADO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1627632"/>
            <a:ext cx="2743200" cy="438912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17920" y="1554480"/>
            <a:ext cx="274320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1554480"/>
            <a:ext cx="274320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Opción 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Partnership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51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t>• $0 desarrollo inicial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246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t>• 3-5% comisión por póliza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• Todo incluido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434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• Ideal: sin inversión upfront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Todas las opciones incluyen: documentación, capacitación inicial, y 30 días de soporte post-launch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¿Por qué Invertir? El ROI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627632"/>
            <a:ext cx="4114800" cy="292608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41148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411480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Reducción de Costos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• -80% costo por cotización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• Menos tiempo de agente por 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• Datos pre-capturados = menos errores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• 24/7 sin costo de personal adicional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36592" y="1627632"/>
            <a:ext cx="4114800" cy="292608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663440" y="1554480"/>
            <a:ext cx="41148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63440" y="1554480"/>
            <a:ext cx="411480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1691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Aumento de Ingresos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3774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• Nuevo revenue stream (comisiones)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8346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• Cross-sell en app: crédito → seguro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2918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• Mayor conversión por experiencia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74903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• Primeros en el mercado = ventaja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4736592"/>
            <a:ext cx="8412480" cy="164592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65760" y="4663440"/>
            <a:ext cx="8412480" cy="16459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846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Resultados demostrados en la industria: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57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</a:defRPr>
            </a:pPr>
            <a:r>
              <a:t>&gt;30%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303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eficiencia en underwriting</a:t>
            </a:r>
            <a:br/>
            <a:r>
              <a:t>(BCG)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257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</a:defRPr>
            </a:pPr>
            <a:r>
              <a:t>91%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303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claims automatizados</a:t>
            </a:r>
            <a:br/>
            <a:r>
              <a:t>(Dearborn Labs)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257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</a:defRPr>
            </a:pPr>
            <a:r>
              <a:t>3X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303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más eficiencia operativa</a:t>
            </a:r>
            <a:br/>
            <a:r>
              <a:t>(Dearborn Labs)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¿Por qué Nosotros?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444752"/>
            <a:ext cx="4114800" cy="201168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41148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0080" y="16459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MVP Funcionando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488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No es PowerPoint.</a:t>
            </a:r>
            <a:br/>
            <a:r>
              <a:t>Tenemos código en producción.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19472" y="1444752"/>
            <a:ext cx="4114800" cy="201168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46320" y="1371600"/>
            <a:ext cx="41148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29200" y="16459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492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🇵🇾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Enfoque Paraguay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1488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Entendemos el contexto local</a:t>
            </a:r>
            <a:br/>
            <a:r>
              <a:t>y la regulación en proceso.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3730752"/>
            <a:ext cx="4114800" cy="201168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41148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" y="39319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977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Tecnología Flexible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4348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Multi-LLM, APIs abiertas,</a:t>
            </a:r>
            <a:br/>
            <a:r>
              <a:t>integración con su sistema.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19472" y="3730752"/>
            <a:ext cx="4114800" cy="201168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846320" y="3657600"/>
            <a:ext cx="41148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029200" y="39319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7492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3977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Partnership Real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44348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No somos vendor.</a:t>
            </a:r>
            <a:br/>
            <a:r>
              <a:t>Crecemos juntos.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Próximos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25880" y="2194560"/>
            <a:ext cx="36576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6916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8105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01952" y="1627632"/>
            <a:ext cx="6858000" cy="82296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828800" y="1554480"/>
            <a:ext cx="685800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11680" y="16276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ESTA SEMANA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6276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Demo en vivo del 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65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Les mostramos el motor funcionando con sus productos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5880" y="3154680"/>
            <a:ext cx="36576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05840" y="265176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27706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01952" y="2587752"/>
            <a:ext cx="6858000" cy="82296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828800" y="2514600"/>
            <a:ext cx="685800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11680" y="25877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SEMANA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5877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Definición de alcance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926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Elegimos modelo de negocio y productos prioritarios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5880" y="4114800"/>
            <a:ext cx="36576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05840" y="361188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37307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01952" y="3547872"/>
            <a:ext cx="6858000" cy="82296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828800" y="3474720"/>
            <a:ext cx="685800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11680" y="3547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SEMANA 3-4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5478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Integración técnica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886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Conectamos con su sistema actual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25880" y="5074920"/>
            <a:ext cx="36576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05840" y="457200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1560" y="46908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01952" y="4507992"/>
            <a:ext cx="6858000" cy="82296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828800" y="4434840"/>
            <a:ext cx="685800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11680" y="4507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SEMANA 5-6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5079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Piloto controlado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46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Prueba con grupo de clientes seleccionados</a:t>
            </a:r>
          </a:p>
        </p:txBody>
      </p:sp>
      <p:sp>
        <p:nvSpPr>
          <p:cNvPr id="37" name="Oval 36"/>
          <p:cNvSpPr/>
          <p:nvPr/>
        </p:nvSpPr>
        <p:spPr>
          <a:xfrm>
            <a:off x="1005840" y="553212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1560" y="56509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901952" y="5468112"/>
            <a:ext cx="6858000" cy="82296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828800" y="5394960"/>
            <a:ext cx="685800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011680" y="54681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SEMANA 7+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4681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Lanzamiento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5806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Listos para cuando llegue la autorización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0" y="-1828800"/>
            <a:ext cx="3657600" cy="3657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/>
          <p:cNvSpPr/>
          <p:nvPr/>
        </p:nvSpPr>
        <p:spPr>
          <a:xfrm>
            <a:off x="7315200" y="4572000"/>
            <a:ext cx="2286000" cy="2286000"/>
          </a:xfrm>
          <a:prstGeom prst="triangl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¿Listos para ser los primeros</a:t>
            </a:r>
            <a:br/>
            <a:r>
              <a:t>en seguros digitales en Paraguay?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657600"/>
            <a:ext cx="365760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3794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Agendemos la Demo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</a:defRPr>
            </a:pPr>
            <a:r>
              <a:t>El MVP está listo. El momento es ahora.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F3D0"/>
                </a:solidFill>
              </a:defRPr>
            </a:pPr>
            <a:r>
              <a:t>contacto@insurtech.com.py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743</Words>
  <Application>Microsoft Macintosh PowerPoint</Application>
  <PresentationFormat>On-screen Show (4:3)</PresentationFormat>
  <Paragraphs>168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Carlos Carbonell Marce</cp:lastModifiedBy>
  <cp:revision>2</cp:revision>
  <dcterms:created xsi:type="dcterms:W3CDTF">2013-01-27T09:14:16Z</dcterms:created>
  <dcterms:modified xsi:type="dcterms:W3CDTF">2026-03-16T23:38:12Z</dcterms:modified>
  <cp:category/>
</cp:coreProperties>
</file>